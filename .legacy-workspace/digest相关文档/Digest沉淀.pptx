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10"/>
  </p:normalViewPr>
  <p:slideViewPr>
    <p:cSldViewPr snapToGrid="0" snapToObjects="1">
      <p:cViewPr>
        <p:scale>
          <a:sx n="114" d="100"/>
          <a:sy n="114" d="100"/>
        </p:scale>
        <p:origin x="62" y="-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2B1C"/>
          </a:solidFill>
          <a:ln w="12700">
            <a:solidFill>
              <a:srgbClr val="152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45720" cy="514350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4572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85432" y="4572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4572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63256" y="4572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02168" y="4572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3716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85432" y="13716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24344" y="13716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63256" y="13716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2168" y="13716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2860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22860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24344" y="22860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63256" y="22860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02168" y="22860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2004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85432" y="32004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24344" y="32004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63256" y="32004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02168" y="32004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1148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85432" y="41148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4344" y="41148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3256" y="41148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02168" y="4114800"/>
            <a:ext cx="54864" cy="54864"/>
          </a:xfrm>
          <a:prstGeom prst="line">
            <a:avLst/>
          </a:prstGeom>
          <a:solidFill>
            <a:srgbClr val="1B6B45">
              <a:alpha val="50000"/>
            </a:srgbClr>
          </a:solidFill>
          <a:ln w="12700">
            <a:solidFill>
              <a:srgbClr val="1B6B45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48640"/>
            <a:ext cx="64008" cy="73152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48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8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DIGEST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76656" y="102412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 淀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" y="16916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你读过的东西，不该只停在收藏夹里。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2920" y="2331720"/>
            <a:ext cx="2286000" cy="32004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4871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新媒体产品设计与项目管理 · 项目开题提案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278892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上海政法学院 · 网络与新媒体专业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100584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2026.4.1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1426210"/>
            <a:ext cx="2670175" cy="745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设计提案</a:t>
            </a:r>
            <a:endParaRPr lang="zh-CN" altLang="en-US" sz="52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92240" y="2926080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288950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受众：信息焦虑的知识消费者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3520440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48386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形态：移动端 Web (H5)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4114800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407822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核心：AI 驱动的知识内化工具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  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今天我们要回答三个问题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3347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33472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6B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为什么做？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822960" cy="27432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问题洞察与市场空白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3347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2633472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27632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6B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做什么？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474720" y="2944368"/>
            <a:ext cx="822960" cy="27432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0906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产品定义与核心功能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63347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17320"/>
            <a:ext cx="2633472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627632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6B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怎么做？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09360" y="2944368"/>
            <a:ext cx="822960" cy="27432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0906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团队分工 · 商业模式 · 可行性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问题洞察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我们每天消费海量内容，但留存了什么？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51760" cy="2651760"/>
          </a:xfrm>
          <a:prstGeom prst="rect">
            <a:avLst/>
          </a:prstGeom>
          <a:solidFill>
            <a:srgbClr val="152B1C"/>
          </a:solidFill>
          <a:ln w="6350">
            <a:solidFill>
              <a:srgbClr val="1B6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489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2468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的阅读内容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在24小时内遗忘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 遗忘曲线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2651760"/>
          </a:xfrm>
          <a:prstGeom prst="rect">
            <a:avLst/>
          </a:prstGeom>
          <a:solidFill>
            <a:srgbClr val="152B1C"/>
          </a:solidFill>
          <a:ln w="6350">
            <a:solidFill>
              <a:srgbClr val="1B6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7276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489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4.7h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337560" y="2578608"/>
            <a:ext cx="2468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用户每日手机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内容消费时长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40156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QuestMobile 2024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651760"/>
          </a:xfrm>
          <a:prstGeom prst="rect">
            <a:avLst/>
          </a:prstGeom>
          <a:solidFill>
            <a:srgbClr val="152B1C"/>
          </a:solidFill>
          <a:ln w="6350">
            <a:solidFill>
              <a:srgbClr val="1B6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7276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489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&lt; 3%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172200" y="2578608"/>
            <a:ext cx="2468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的「稍后读」内容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最终被完整阅读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40156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用户行为报告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信息摄入量的增长，并未带来认知的同步增长——这是我们试图解决的核心矛盾。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问题洞察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现有工具解决了「存」，没有解决「化」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298448"/>
          <a:ext cx="8412480" cy="27432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64592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收藏 / 存储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摘要提炼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主动复习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内容关联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/ 稍后读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笔记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手动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各平台收藏夹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 · 沉淀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AI自动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间隔复习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自动关联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145536"/>
            <a:ext cx="8321040" cy="457200"/>
          </a:xfrm>
          <a:prstGeom prst="rect">
            <a:avLst/>
          </a:prstGeom>
          <a:solidFill>
            <a:srgbClr val="1B6B45">
              <a:alpha val="15000"/>
            </a:srgbClr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核心差异化：AI 拆解 + 间隔复习 + 内容关联，三者协同，缺一不可。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486918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Digest 是什么？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9776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64008" cy="242316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8132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847088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把你读过的内容，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真正转化为可调用的认知。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01752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类比：Readwise 的深度 × Notion 的整洁 × 闪卡的效率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53312"/>
            <a:ext cx="40233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813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核心目标用户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438912" cy="438912"/>
          </a:xfrm>
          <a:prstGeom prst="line">
            <a:avLst/>
          </a:prstGeom>
          <a:solidFill>
            <a:srgbClr val="EDE9E0"/>
          </a:solidFill>
          <a:ln w="12700">
            <a:solidFill>
              <a:srgbClr val="D8D4CC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1984248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94960" y="194767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在校学生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94960" y="217627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大量阅读教材/文章，复习效率低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2834640"/>
            <a:ext cx="438912" cy="438912"/>
          </a:xfrm>
          <a:prstGeom prst="line">
            <a:avLst/>
          </a:prstGeom>
          <a:solidFill>
            <a:srgbClr val="EDE9E0"/>
          </a:solidFill>
          <a:ln w="12700">
            <a:solidFill>
              <a:srgbClr val="D8D4C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898648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286207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职场知识工作者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94960" y="309067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行业信息爆炸，难以系统消化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" y="3931920"/>
            <a:ext cx="8229600" cy="987552"/>
          </a:xfrm>
          <a:prstGeom prst="rect">
            <a:avLst/>
          </a:prstGeom>
          <a:solidFill>
            <a:srgbClr val="0F1B12"/>
          </a:solidFill>
          <a:ln w="12700">
            <a:solidFill>
              <a:srgbClr val="0F1B1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4005072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9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2.3亿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22960" y="44439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中国在校大学生规模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566160" y="4005072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9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46%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3566160" y="44439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表示「读了就忘」困扰严重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309360" y="4005072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9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¥25/月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6309360" y="44439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用户可接受订阅价格中位数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11820" y="484632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MVP 四大功能模块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029968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2029968" cy="50292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898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344168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9A7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21208" y="19202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内容导入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1208" y="2286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" y="2615184"/>
            <a:ext cx="1371600" cy="2286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715768"/>
            <a:ext cx="182880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粘贴 URL 自动抓取全文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浏览器插件一键剪藏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手动粘贴文本 / 上传文档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87752" y="1298448"/>
            <a:ext cx="2029968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87752" y="1298448"/>
            <a:ext cx="2029968" cy="50292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8988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05072" y="1344168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9A7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697480" y="19202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拆解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697480" y="2286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697480" y="2615184"/>
            <a:ext cx="1371600" cy="2286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97480" y="2715768"/>
            <a:ext cx="182880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核心论点提炼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论据结构梳理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可迁移认知框架 + 内容关联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64024" y="1298448"/>
            <a:ext cx="2029968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64024" y="1298448"/>
            <a:ext cx="2029968" cy="50292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38988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81344" y="1344168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9A7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4873752" y="19202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间隔复习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873752" y="2286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73752" y="2615184"/>
            <a:ext cx="1371600" cy="2286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73752" y="2715768"/>
            <a:ext cx="182880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基于遗忘曲线每日推送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开放式问题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评分 + 补充说明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940296" y="1298448"/>
            <a:ext cx="2029968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940296" y="1298448"/>
            <a:ext cx="2029968" cy="50292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138988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357616" y="1344168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9A7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7050024" y="19202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7050024" y="2286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050024" y="2615184"/>
            <a:ext cx="1371600" cy="2286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050024" y="2715768"/>
            <a:ext cx="182880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内容自动主题聚类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发现跨领域关联节点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可视化个人认知全貌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用户体验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06105" y="4808855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一位大学生的典型使用路径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8096" y="1417320"/>
            <a:ext cx="713232" cy="713232"/>
          </a:xfrm>
          <a:prstGeom prst="line">
            <a:avLst/>
          </a:prstGeom>
          <a:solidFill>
            <a:srgbClr val="1B6B45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173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72768" y="1719072"/>
            <a:ext cx="384048" cy="54864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26771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6060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刷到一篇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AIGC 深度报道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417320"/>
            <a:ext cx="713232" cy="713232"/>
          </a:xfrm>
          <a:prstGeom prst="line">
            <a:avLst/>
          </a:prstGeom>
          <a:solidFill>
            <a:srgbClr val="1B6B45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173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91840" y="1719072"/>
            <a:ext cx="384048" cy="54864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26771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6060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一键粘贴 URL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30秒内完成解析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1417320"/>
            <a:ext cx="713232" cy="713232"/>
          </a:xfrm>
          <a:prstGeom prst="line">
            <a:avLst/>
          </a:prstGeom>
          <a:solidFill>
            <a:srgbClr val="1B6B45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4173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10912" y="1719072"/>
            <a:ext cx="384048" cy="54864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226771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22192" y="26060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提炼论点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关联上周内容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25312" y="1417320"/>
            <a:ext cx="713232" cy="713232"/>
          </a:xfrm>
          <a:prstGeom prst="line">
            <a:avLst/>
          </a:prstGeom>
          <a:solidFill>
            <a:srgbClr val="1B6B45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4173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29984" y="1719072"/>
            <a:ext cx="384048" cy="54864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226771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41264" y="26060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3天后收到推送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用自己的话回答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44384" y="1417320"/>
            <a:ext cx="713232" cy="713232"/>
          </a:xfrm>
          <a:prstGeom prst="line">
            <a:avLst/>
          </a:prstGeom>
          <a:solidFill>
            <a:srgbClr val="1B6B45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4173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60336" y="226771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60336" y="26060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形成主题图谱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认知真正内化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8229600" cy="1298448"/>
          </a:xfrm>
          <a:prstGeom prst="rect">
            <a:avLst/>
          </a:prstGeom>
          <a:solidFill>
            <a:srgbClr val="152B1C"/>
          </a:solidFill>
          <a:ln w="6350">
            <a:solidFill>
              <a:srgbClr val="1B6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547872"/>
            <a:ext cx="548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B6B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“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1005840" y="3767328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读了很多东西，但真正能讲出来的好像只有一两个观点——Digest 要解决的就是这个落差。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21650" y="4827905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清晰的三层变现逻辑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697480" cy="3584448"/>
          </a:xfrm>
          <a:prstGeom prst="rect">
            <a:avLst/>
          </a:prstGeom>
          <a:solidFill>
            <a:srgbClr val="EBF5EF"/>
          </a:solidFill>
          <a:ln w="6350">
            <a:solidFill>
              <a:srgbClr val="C8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2697480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7A5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免费层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86000"/>
            <a:ext cx="2011680" cy="2286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95728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每月处理 20 篇内容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基础间隔复习功能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培养使用习惯 → 转化付费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4370832"/>
            <a:ext cx="11430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708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用户获取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298448"/>
            <a:ext cx="2697480" cy="3584448"/>
          </a:xfrm>
          <a:prstGeom prst="rect">
            <a:avLst/>
          </a:prstGeom>
          <a:solidFill>
            <a:srgbClr val="D6EDE1"/>
          </a:solidFill>
          <a:ln w="6350">
            <a:solidFill>
              <a:srgbClr val="C8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298448"/>
            <a:ext cx="2697480" cy="7315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48132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6B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订阅层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447288" y="1920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¥25/月 · ¥168/年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47288" y="2286000"/>
            <a:ext cx="2011680" cy="2286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395728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无限内容导入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完整关联分析 + 知识图谱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 Markdown / Notion 同步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47288" y="4370832"/>
            <a:ext cx="11430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43708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核心收入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17336" y="1298448"/>
            <a:ext cx="2697480" cy="3584448"/>
          </a:xfrm>
          <a:prstGeom prst="rect">
            <a:avLst/>
          </a:prstGeom>
          <a:solidFill>
            <a:srgbClr val="1B6B45"/>
          </a:solidFill>
          <a:ln w="19050">
            <a:solidFill>
              <a:srgbClr val="1B6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298448"/>
            <a:ext cx="2697480" cy="73152"/>
          </a:xfrm>
          <a:prstGeom prst="rect">
            <a:avLst/>
          </a:prstGeom>
          <a:solidFill>
            <a:srgbClr val="0F4A2A"/>
          </a:solidFill>
          <a:ln w="12700">
            <a:solidFill>
              <a:srgbClr val="0F4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148132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机构层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300216" y="1920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D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SaaS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2286000"/>
            <a:ext cx="2011680" cy="22860"/>
          </a:xfrm>
          <a:prstGeom prst="rect">
            <a:avLst/>
          </a:prstGeom>
          <a:solidFill>
            <a:srgbClr val="5A9A72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395728"/>
            <a:ext cx="23774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 / 培训机构团队版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教师端：全班掌握热力图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 ¥XX / 人 / 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0216" y="4370832"/>
            <a:ext cx="1143000" cy="256032"/>
          </a:xfrm>
          <a:prstGeom prst="rect">
            <a:avLst/>
          </a:prstGeom>
          <a:solidFill>
            <a:srgbClr val="5A9A72"/>
          </a:solidFill>
          <a:ln w="12700">
            <a:solidFill>
              <a:srgbClr val="5A9A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43708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 Readwise 增长路径：免费层做冷启动，年订阅提升 LTV，机构层实现规模化。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项目计划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0240" y="480949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团队分工 与 项目里程碑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233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2646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团队分工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54864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4708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核心成员（技术负责）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2276856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1945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产品定义 + Figma 交互原型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" y="2578608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49631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Demo 开发（HTML/CSS/JS）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880360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79806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功能接入（Claude / GLM API）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" y="3182112"/>
            <a:ext cx="91440" cy="91440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09981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品牌视觉 + 汇报文件制作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54864" cy="256032"/>
          </a:xfrm>
          <a:prstGeom prst="rect">
            <a:avLst/>
          </a:prstGeom>
          <a:solidFill>
            <a:srgbClr val="7A9A82"/>
          </a:solidFill>
          <a:ln w="12700">
            <a:solidFill>
              <a:srgbClr val="7A9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58444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组员（调研负责）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4014216"/>
            <a:ext cx="91440" cy="91440"/>
          </a:xfrm>
          <a:prstGeom prst="line">
            <a:avLst/>
          </a:prstGeom>
          <a:solidFill>
            <a:srgbClr val="7A9A82"/>
          </a:solidFill>
          <a:ln w="12700">
            <a:solidFill>
              <a:srgbClr val="7A9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393192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用户问卷调研（30 份）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" y="4315968"/>
            <a:ext cx="91440" cy="91440"/>
          </a:xfrm>
          <a:prstGeom prst="line">
            <a:avLst/>
          </a:prstGeom>
          <a:solidFill>
            <a:srgbClr val="7A9A82"/>
          </a:solidFill>
          <a:ln w="12700">
            <a:solidFill>
              <a:srgbClr val="7A9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2336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典型用户深访（3 人）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" y="4617720"/>
            <a:ext cx="91440" cy="91440"/>
          </a:xfrm>
          <a:prstGeom prst="line">
            <a:avLst/>
          </a:prstGeom>
          <a:solidFill>
            <a:srgbClr val="7A9A82"/>
          </a:solidFill>
          <a:ln w="12700">
            <a:solidFill>
              <a:srgbClr val="7A9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453542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竞品体验报告整理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6384" y="4919472"/>
            <a:ext cx="91440" cy="91440"/>
          </a:xfrm>
          <a:prstGeom prst="line">
            <a:avLst/>
          </a:prstGeom>
          <a:solidFill>
            <a:srgbClr val="7A9A82"/>
          </a:solidFill>
          <a:ln w="12700">
            <a:solidFill>
              <a:srgbClr val="7A9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8371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文案整理 + 汇报排练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1298448"/>
            <a:ext cx="3977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42646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1911096"/>
            <a:ext cx="658368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91109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41848" y="189280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 + 选题确认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41848" y="212140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用户访谈 · 竞品分析 · 需求文档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2441448"/>
            <a:ext cx="7772400" cy="9144"/>
          </a:xfrm>
          <a:prstGeom prst="rect">
            <a:avLst/>
          </a:prstGeom>
          <a:solidFill>
            <a:srgbClr val="E0DDD5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514600"/>
            <a:ext cx="658368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14600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41848" y="2496312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原型设计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41848" y="272491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交互原型（核心页面）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3044952"/>
            <a:ext cx="7772400" cy="9144"/>
          </a:xfrm>
          <a:prstGeom prst="rect">
            <a:avLst/>
          </a:prstGeom>
          <a:solidFill>
            <a:srgbClr val="E0DDD5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118104"/>
            <a:ext cx="658368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118104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41848" y="3099816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开发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41848" y="332841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H5可运行版本 · AI拆解功能接入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3648456"/>
            <a:ext cx="7772400" cy="9144"/>
          </a:xfrm>
          <a:prstGeom prst="rect">
            <a:avLst/>
          </a:prstGeom>
          <a:solidFill>
            <a:srgbClr val="E0DDD5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040" y="3721608"/>
            <a:ext cx="658368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721608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41848" y="3703320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 + 汇报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41848" y="3931920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品牌规范 · PPT · 演示视频制作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4251960"/>
            <a:ext cx="7772400" cy="9144"/>
          </a:xfrm>
          <a:prstGeom prst="rect">
            <a:avLst/>
          </a:prstGeom>
          <a:solidFill>
            <a:srgbClr val="E0DDD5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92040" y="4325112"/>
            <a:ext cx="658368" cy="256032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325112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41848" y="430682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41848" y="4535424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最终提案汇报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52B1C"/>
          </a:solidFill>
          <a:ln w="12700">
            <a:solidFill>
              <a:srgbClr val="152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0"/>
            <a:ext cx="45720" cy="514350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5669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DIGEST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16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  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633472"/>
            <a:ext cx="2926080" cy="36576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你读过的东西，不该只停在收藏夹里。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感谢聆听，期待您的指导与建议。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56832" y="1234440"/>
            <a:ext cx="201168" cy="201168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1188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问题真实，市场足够大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56832" y="2258568"/>
            <a:ext cx="201168" cy="201168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功能聚焦，商业逻辑闭环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56832" y="3282696"/>
            <a:ext cx="201168" cy="201168"/>
          </a:xfrm>
          <a:prstGeom prst="lin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323697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技术可行，Demo可现场演示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WPS 演示</Application>
  <PresentationFormat>全屏显示(16:9)</PresentationFormat>
  <Paragraphs>367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宋体</vt:lpstr>
      <vt:lpstr>Wingdings</vt:lpstr>
      <vt:lpstr>Trebuchet MS</vt:lpstr>
      <vt:lpstr>Trebuchet MS</vt:lpstr>
      <vt:lpstr>Trebuchet MS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Digest · 沉淀 — 开题提案</dc:title>
  <dc:creator>PptxGenJS</dc:creator>
  <dc:subject>PptxGenJS Presentation</dc:subject>
  <cp:lastModifiedBy>zyx</cp:lastModifiedBy>
  <cp:revision>4</cp:revision>
  <dcterms:created xsi:type="dcterms:W3CDTF">2026-04-01T01:47:06Z</dcterms:created>
  <dcterms:modified xsi:type="dcterms:W3CDTF">2026-04-01T01:47:06Z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74A8A8B68C9C01E6DA6FCC69CCD416C6_43</vt:lpwstr>
  </property>
</Properties>
</file>