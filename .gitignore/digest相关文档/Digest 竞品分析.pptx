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Californian FB" panose="0207040306080B030204" pitchFamily="18" charset="0"/>
      <p:regular r:id="rId9"/>
      <p:bold r:id="rId10"/>
      <p:italic r:id="rId11"/>
    </p:embeddedFont>
    <p:embeddedFont>
      <p:font typeface="Calisto MT" panose="02040603050505030304" pitchFamily="18" charset="0"/>
      <p:regular r:id="rId12"/>
      <p:bold r:id="rId13"/>
      <p:italic r:id="rId14"/>
      <p:boldItalic r:id="rId15"/>
    </p:embeddedFont>
    <p:embeddedFont>
      <p:font typeface="Open Sans" panose="020B0606030504020204" pitchFamily="34" charset="0"/>
      <p:regular r:id="rId16"/>
      <p:bold r:id="rId1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4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2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10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BE2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0416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Digest 竞品分析报告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45975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从"信息收藏"到"知识图谱"的破局之路——以 AI 智能体工作流、D3 可视化图谱与电影感 UI 为核心，重新定义知识内化工具的市场坐标。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072854"/>
            <a:ext cx="912093" cy="266402"/>
          </a:xfrm>
          <a:prstGeom prst="roundRect">
            <a:avLst>
              <a:gd name="adj" fmla="val 17880"/>
            </a:avLst>
          </a:prstGeom>
          <a:solidFill>
            <a:srgbClr val="EBE2E0"/>
          </a:solidFill>
          <a:ln/>
        </p:spPr>
      </p:sp>
      <p:sp>
        <p:nvSpPr>
          <p:cNvPr id="7" name="Text 4"/>
          <p:cNvSpPr/>
          <p:nvPr/>
        </p:nvSpPr>
        <p:spPr>
          <a:xfrm>
            <a:off x="581174" y="3115345"/>
            <a:ext cx="7419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战略洞察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392"/>
            <a:ext cx="3117949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竞品全景：市场格局界定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78173"/>
            <a:ext cx="81517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以 Digest 为原点，构建五层竞争图谱——从功能直接重叠到潜在替代路径。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97198"/>
            <a:ext cx="3150022" cy="315002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397198"/>
            <a:ext cx="3150022" cy="315002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15098" y="1345481"/>
            <a:ext cx="3937546" cy="849809"/>
          </a:xfrm>
          <a:prstGeom prst="roundRect">
            <a:avLst>
              <a:gd name="adj" fmla="val 8070"/>
            </a:avLst>
          </a:prstGeom>
          <a:solidFill>
            <a:srgbClr val="FFFCFA"/>
          </a:solidFill>
          <a:ln w="14288">
            <a:solidFill>
              <a:srgbClr val="D1C8C6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700811" y="1345481"/>
            <a:ext cx="57150" cy="849809"/>
          </a:xfrm>
          <a:prstGeom prst="roundRect">
            <a:avLst>
              <a:gd name="adj" fmla="val 83349"/>
            </a:avLst>
          </a:prstGeom>
          <a:solidFill>
            <a:srgbClr val="835E54"/>
          </a:solidFill>
          <a:ln/>
        </p:spPr>
      </p:sp>
      <p:sp>
        <p:nvSpPr>
          <p:cNvPr id="8" name="Text 4"/>
          <p:cNvSpPr/>
          <p:nvPr/>
        </p:nvSpPr>
        <p:spPr>
          <a:xfrm>
            <a:off x="4885655" y="1473175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直接竞品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885655" y="1741066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Cubox、Readwise Reader — 核心功能高度重合：剪藏、AI 辅助阅读、稍后阅读管理。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715098" y="2286000"/>
            <a:ext cx="3937546" cy="849809"/>
          </a:xfrm>
          <a:prstGeom prst="roundRect">
            <a:avLst>
              <a:gd name="adj" fmla="val 8070"/>
            </a:avLst>
          </a:prstGeom>
          <a:solidFill>
            <a:srgbClr val="FFFCFA"/>
          </a:solidFill>
          <a:ln w="14288">
            <a:solidFill>
              <a:srgbClr val="D1C8C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0811" y="2286000"/>
            <a:ext cx="57150" cy="849809"/>
          </a:xfrm>
          <a:prstGeom prst="roundRect">
            <a:avLst>
              <a:gd name="adj" fmla="val 83349"/>
            </a:avLst>
          </a:prstGeom>
          <a:solidFill>
            <a:srgbClr val="835E54"/>
          </a:solidFill>
          <a:ln/>
        </p:spPr>
      </p:sp>
      <p:sp>
        <p:nvSpPr>
          <p:cNvPr id="12" name="Text 8"/>
          <p:cNvSpPr/>
          <p:nvPr/>
        </p:nvSpPr>
        <p:spPr>
          <a:xfrm>
            <a:off x="4885655" y="2413695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间接竞品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85655" y="2681585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Notion、Obsidian — 覆盖知识库构建，但依赖手动组织，AI 自动化程度弱。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715098" y="3226519"/>
            <a:ext cx="3937546" cy="849809"/>
          </a:xfrm>
          <a:prstGeom prst="roundRect">
            <a:avLst>
              <a:gd name="adj" fmla="val 8070"/>
            </a:avLst>
          </a:prstGeom>
          <a:solidFill>
            <a:srgbClr val="FFFCFA"/>
          </a:solidFill>
          <a:ln w="14288">
            <a:solidFill>
              <a:srgbClr val="D1C8C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00811" y="3226519"/>
            <a:ext cx="57150" cy="849809"/>
          </a:xfrm>
          <a:prstGeom prst="roundRect">
            <a:avLst>
              <a:gd name="adj" fmla="val 83349"/>
            </a:avLst>
          </a:prstGeom>
          <a:solidFill>
            <a:srgbClr val="835E54"/>
          </a:solidFill>
          <a:ln/>
        </p:spPr>
      </p:sp>
      <p:sp>
        <p:nvSpPr>
          <p:cNvPr id="16" name="Text 12"/>
          <p:cNvSpPr/>
          <p:nvPr/>
        </p:nvSpPr>
        <p:spPr>
          <a:xfrm>
            <a:off x="4885655" y="3354214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转移性竞品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85655" y="3622104"/>
            <a:ext cx="3639294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微信文件助手、手机备忘录 — 用户粘性最强的碎片信息原始堆积地，不容忽视。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715098" y="4178350"/>
            <a:ext cx="3937546" cy="420663"/>
          </a:xfrm>
          <a:prstGeom prst="roundRect">
            <a:avLst>
              <a:gd name="adj" fmla="val 11324"/>
            </a:avLst>
          </a:prstGeom>
          <a:solidFill>
            <a:srgbClr val="B6D6F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505" y="4344665"/>
            <a:ext cx="141759" cy="11340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83671" y="4297412"/>
            <a:ext cx="345556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艾瑞咨询数据：个人效率工具正加速从"存储型"向 </a:t>
            </a:r>
            <a:r>
              <a:rPr lang="en-US" sz="8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计算型</a:t>
            </a: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转型。</a:t>
            </a:r>
            <a:endParaRPr lang="en-US" sz="85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03346F4-6B39-085D-C4CA-1F31F0696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4950" y="4668021"/>
            <a:ext cx="1277485" cy="4666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BE2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0" y="375419"/>
            <a:ext cx="3294385" cy="439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47749"/>
            <a:ext cx="4708178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 err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横向深度对标：</a:t>
            </a:r>
            <a:r>
              <a:rPr lang="en-US" sz="2650" b="1" dirty="0" err="1">
                <a:solidFill>
                  <a:srgbClr val="443728"/>
                </a:solidFill>
                <a:latin typeface="Californian FB" panose="0207040306080B030204" pitchFamily="18" charset="0"/>
                <a:ea typeface="Crimson Pro Bold" pitchFamily="34" charset="-122"/>
                <a:cs typeface="Crimson Pro Bold" pitchFamily="34" charset="-120"/>
              </a:rPr>
              <a:t>CUBOX</a:t>
            </a:r>
            <a:endParaRPr lang="en-US" sz="2650" dirty="0">
              <a:latin typeface="Californian FB" panose="0207040306080B03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25119" y="1060549"/>
            <a:ext cx="472276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相同的用户群体，截然不同的产品哲学——一个做"超级收藏夹"，一个做"私人数字编辑部"。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925119" y="1624608"/>
            <a:ext cx="4722763" cy="3071068"/>
          </a:xfrm>
          <a:prstGeom prst="roundRect">
            <a:avLst>
              <a:gd name="adj" fmla="val 184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29881" y="1629370"/>
            <a:ext cx="4713238" cy="1530772"/>
          </a:xfrm>
          <a:prstGeom prst="roundRect">
            <a:avLst>
              <a:gd name="adj" fmla="val 3695"/>
            </a:avLst>
          </a:prstGeom>
          <a:solidFill>
            <a:srgbClr val="EBE2E0"/>
          </a:solidFill>
          <a:ln/>
        </p:spPr>
      </p:sp>
      <p:sp>
        <p:nvSpPr>
          <p:cNvPr id="8" name="Text 5"/>
          <p:cNvSpPr/>
          <p:nvPr/>
        </p:nvSpPr>
        <p:spPr>
          <a:xfrm>
            <a:off x="4064496" y="1763985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📌</a:t>
            </a: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Cubox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64496" y="2051075"/>
            <a:ext cx="4444008" cy="97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定位：超级收藏夹 + 搜索引擎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优势：跨平台剪藏极强、自动标签分类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视觉：Glassmorphism 极客风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商业：免费 + 高级 AI 额度月付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29881" y="3160142"/>
            <a:ext cx="4713238" cy="1530772"/>
          </a:xfrm>
          <a:prstGeom prst="rect">
            <a:avLst/>
          </a:prstGeom>
          <a:solidFill>
            <a:srgbClr val="EBE2E0"/>
          </a:solidFill>
          <a:ln/>
        </p:spPr>
      </p:sp>
      <p:sp>
        <p:nvSpPr>
          <p:cNvPr id="11" name="Shape 8"/>
          <p:cNvSpPr/>
          <p:nvPr/>
        </p:nvSpPr>
        <p:spPr>
          <a:xfrm>
            <a:off x="3929881" y="3160142"/>
            <a:ext cx="4713238" cy="19050"/>
          </a:xfrm>
          <a:prstGeom prst="roundRect">
            <a:avLst>
              <a:gd name="adj" fmla="val 296930"/>
            </a:avLst>
          </a:prstGeom>
          <a:solidFill>
            <a:srgbClr val="D1C8C6"/>
          </a:solidFill>
          <a:ln/>
        </p:spPr>
      </p:sp>
      <p:sp>
        <p:nvSpPr>
          <p:cNvPr id="12" name="Text 9"/>
          <p:cNvSpPr/>
          <p:nvPr/>
        </p:nvSpPr>
        <p:spPr>
          <a:xfrm>
            <a:off x="4064496" y="329475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✨</a:t>
            </a: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Digest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64496" y="3581846"/>
            <a:ext cx="4444008" cy="974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定位：私人数字编辑部，强制知识结构化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优势：Agent 自动连线、SRS 间隔复习、D3 动态星空图谱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视觉：电影感 UI（胶片噪点、呼吸转场）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商业：SaaS 订阅制，情绪溢价显著</a:t>
            </a:r>
            <a:endParaRPr lang="en-US" sz="105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0A35D0B-D9DA-73DA-1AD3-B6CD146DF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950" y="4767634"/>
            <a:ext cx="1277485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532923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+mn-ea"/>
                <a:cs typeface="Crimson Pro Bold" pitchFamily="34" charset="-120"/>
              </a:rPr>
              <a:t>界面与交互拆解</a:t>
            </a: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：</a:t>
            </a:r>
            <a:r>
              <a:rPr lang="en-US" sz="2750" b="1" dirty="0">
                <a:solidFill>
                  <a:srgbClr val="443728"/>
                </a:solidFill>
                <a:latin typeface="+mn-ea"/>
                <a:cs typeface="Crimson Pro Bold" pitchFamily="34" charset="-120"/>
              </a:rPr>
              <a:t>破解"信息焦虑"</a:t>
            </a:r>
            <a:endParaRPr lang="en-US" sz="2750" dirty="0">
              <a:latin typeface="+mn-e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6671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竞品痛点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030388"/>
            <a:ext cx="51775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传统列表式 / 瀑布流卡片堆积，容易让用户产生"待办焦虑"——越收藏，越压抑。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239896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alisto MT" panose="02040603050505030304" pitchFamily="18" charset="0"/>
                <a:ea typeface="Crimson Pro Bold" pitchFamily="34" charset="-122"/>
                <a:cs typeface="Crimson Pro Bold" pitchFamily="34" charset="-120"/>
              </a:rPr>
              <a:t>DIGEST</a:t>
            </a: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的解法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2762176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用可视化节点图（Node Graph）将阅读列表转化为</a:t>
            </a:r>
            <a:r>
              <a:rPr lang="en-US" sz="11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"知识生长"</a:t>
            </a: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的过程，强化获得感。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988" y="33575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增删决策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474988" y="3720778"/>
            <a:ext cx="5177582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必须补齐：</a:t>
            </a: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Chrome 一键剪藏插件，降低内容输入门槛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坚决剔除：</a:t>
            </a: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多层级文件夹，保持扁平化认知负荷</a:t>
            </a:r>
            <a:endParaRPr lang="en-US" sz="11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F8959F-0160-3964-9802-96C478336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950" y="4767634"/>
            <a:ext cx="1277485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1516"/>
            <a:ext cx="4348535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纵向个案：Cubox 的演进启示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38238"/>
            <a:ext cx="815176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从书签管理器到 AI 阅读大脑——Cubox 的迭代路径验证了"AI 赋能阅读"是确定性市场需求。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2738140"/>
            <a:ext cx="8151763" cy="19050"/>
          </a:xfrm>
          <a:prstGeom prst="roundRect">
            <a:avLst>
              <a:gd name="adj" fmla="val 296930"/>
            </a:avLst>
          </a:prstGeom>
          <a:solidFill>
            <a:srgbClr val="D1C8C6"/>
          </a:solidFill>
          <a:ln/>
        </p:spPr>
      </p:sp>
      <p:sp>
        <p:nvSpPr>
          <p:cNvPr id="5" name="Shape 3"/>
          <p:cNvSpPr/>
          <p:nvPr/>
        </p:nvSpPr>
        <p:spPr>
          <a:xfrm>
            <a:off x="2068934" y="2334146"/>
            <a:ext cx="19050" cy="403994"/>
          </a:xfrm>
          <a:prstGeom prst="roundRect">
            <a:avLst>
              <a:gd name="adj" fmla="val 296930"/>
            </a:avLst>
          </a:prstGeom>
          <a:solidFill>
            <a:srgbClr val="D1C8C6"/>
          </a:solidFill>
          <a:ln/>
        </p:spPr>
      </p:sp>
      <p:sp>
        <p:nvSpPr>
          <p:cNvPr id="6" name="Shape 4"/>
          <p:cNvSpPr/>
          <p:nvPr/>
        </p:nvSpPr>
        <p:spPr>
          <a:xfrm>
            <a:off x="1926952" y="2586633"/>
            <a:ext cx="303014" cy="303014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77479" y="2611896"/>
            <a:ext cx="201960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236762" y="1492225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早期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734" y="1779315"/>
            <a:ext cx="289552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书签管理器</a:t>
            </a: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单纯网址解析与收藏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31270" y="2738140"/>
            <a:ext cx="19050" cy="403994"/>
          </a:xfrm>
          <a:prstGeom prst="roundRect">
            <a:avLst>
              <a:gd name="adj" fmla="val 296930"/>
            </a:avLst>
          </a:prstGeom>
          <a:solidFill>
            <a:srgbClr val="D1C8C6"/>
          </a:solidFill>
          <a:ln/>
        </p:spPr>
      </p:sp>
      <p:sp>
        <p:nvSpPr>
          <p:cNvPr id="11" name="Shape 9"/>
          <p:cNvSpPr/>
          <p:nvPr/>
        </p:nvSpPr>
        <p:spPr>
          <a:xfrm>
            <a:off x="3589288" y="2586633"/>
            <a:ext cx="303014" cy="303014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815" y="2611896"/>
            <a:ext cx="201960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899097" y="3276823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中期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93069" y="3563913"/>
            <a:ext cx="289552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碎片信息聚合库</a:t>
            </a: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全文离线抓取，跨平台同步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93606" y="2334146"/>
            <a:ext cx="19050" cy="403994"/>
          </a:xfrm>
          <a:prstGeom prst="roundRect">
            <a:avLst>
              <a:gd name="adj" fmla="val 296930"/>
            </a:avLst>
          </a:prstGeom>
          <a:solidFill>
            <a:srgbClr val="D1C8C6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1624" y="2586633"/>
            <a:ext cx="303014" cy="303014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2151" y="2611896"/>
            <a:ext cx="201960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61433" y="1492225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现阶段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55405" y="1779315"/>
            <a:ext cx="289552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专属阅读大脑</a:t>
            </a: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大模型自动高亮、摘要生成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55941" y="2738140"/>
            <a:ext cx="19050" cy="403994"/>
          </a:xfrm>
          <a:prstGeom prst="roundRect">
            <a:avLst>
              <a:gd name="adj" fmla="val 296930"/>
            </a:avLst>
          </a:prstGeom>
          <a:solidFill>
            <a:srgbClr val="D1C8C6"/>
          </a:solidFill>
          <a:ln/>
        </p:spPr>
      </p:sp>
      <p:sp>
        <p:nvSpPr>
          <p:cNvPr id="21" name="Shape 19"/>
          <p:cNvSpPr/>
          <p:nvPr/>
        </p:nvSpPr>
        <p:spPr>
          <a:xfrm>
            <a:off x="6913959" y="2586633"/>
            <a:ext cx="303014" cy="303014"/>
          </a:xfrm>
          <a:prstGeom prst="roundRect">
            <a:avLst>
              <a:gd name="adj" fmla="val 18668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4487" y="2611896"/>
            <a:ext cx="201960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223769" y="3276823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商业化验证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17741" y="3563913"/>
            <a:ext cx="289552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买断 → 连续订阅</a:t>
            </a: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年费 100+ 元，国内用户愿意持续付费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6119" y="4127971"/>
            <a:ext cx="8151763" cy="554013"/>
          </a:xfrm>
          <a:prstGeom prst="roundRect">
            <a:avLst>
              <a:gd name="adj" fmla="val 10210"/>
            </a:avLst>
          </a:prstGeom>
          <a:solidFill>
            <a:srgbClr val="B6FCB8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34" y="4335587"/>
            <a:ext cx="168325" cy="13461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33673" y="4289524"/>
            <a:ext cx="757959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关键启示：商业化路径从一次性买断成功转型为订阅制，证明国内用户愿意为</a:t>
            </a:r>
            <a:r>
              <a:rPr lang="en-US" sz="10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高质量信息梳理</a:t>
            </a: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持续付费。</a:t>
            </a:r>
            <a:endParaRPr lang="en-US" sz="105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9F05D80-303E-EBBA-B779-09412E50A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950" y="4767634"/>
            <a:ext cx="1277485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BE2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39415"/>
            <a:ext cx="421845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Digest 突围战略：三步破局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1095003"/>
            <a:ext cx="2290465" cy="1847031"/>
          </a:xfrm>
          <a:prstGeom prst="roundRect">
            <a:avLst>
              <a:gd name="adj" fmla="val 3224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071640" y="1241524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35E5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8619" y="1358429"/>
            <a:ext cx="191319" cy="1913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71640" y="18085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避开收纳战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071640" y="2115071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不与竞品比拼格式兼容度，死磕 </a:t>
            </a:r>
            <a:r>
              <a:rPr lang="en-US" sz="11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自动连线</a:t>
            </a: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——知识的"化学反应"是核心护城河。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357342" y="1095003"/>
            <a:ext cx="2290539" cy="1847031"/>
          </a:xfrm>
          <a:prstGeom prst="roundRect">
            <a:avLst>
              <a:gd name="adj" fmla="val 3224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03863" y="1241524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35E5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0842" y="1358429"/>
            <a:ext cx="191319" cy="1913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03863" y="18085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放大情绪差异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03863" y="2115071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坚守"极简电影感"UI，将知识管理打造成一种</a:t>
            </a:r>
            <a:r>
              <a:rPr lang="en-US" sz="11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有仪式感的体验</a:t>
            </a: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，建立难以复制的品牌辨识度。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925119" y="3083793"/>
            <a:ext cx="4722763" cy="1620217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071640" y="3230314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35E5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88619" y="3347219"/>
            <a:ext cx="191319" cy="1913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71640" y="37973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商业化前置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071640" y="4103861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图谱逻辑跑通后，立即启动云端 SaaS 改造，引入</a:t>
            </a:r>
            <a:r>
              <a:rPr lang="en-US" sz="11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音视频多模态摄入</a:t>
            </a: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，构建更高数据壁垒。</a:t>
            </a:r>
            <a:endParaRPr lang="en-US" sz="1100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8969EE8-DEB6-CA6F-A950-0797979831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4950" y="4767634"/>
            <a:ext cx="1277485" cy="3670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290</Words>
  <Application>Microsoft Office PowerPoint</Application>
  <PresentationFormat>全屏显示(16:9)</PresentationFormat>
  <Paragraphs>60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Crimson Pro Bold</vt:lpstr>
      <vt:lpstr>Californian FB</vt:lpstr>
      <vt:lpstr>Calisto MT</vt:lpstr>
      <vt:lpstr>Arial</vt:lpstr>
      <vt:lpstr>Open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Hideya Z</cp:lastModifiedBy>
  <cp:revision>5</cp:revision>
  <dcterms:created xsi:type="dcterms:W3CDTF">2026-05-05T16:00:30Z</dcterms:created>
  <dcterms:modified xsi:type="dcterms:W3CDTF">2026-05-11T13:27:03Z</dcterms:modified>
</cp:coreProperties>
</file>